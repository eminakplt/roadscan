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2DD4BF"/>
                </a:solidFill>
                <a:latin typeface="Calibri"/>
              </a:rPr>
              <a:t>🛣️ RoadScan</a:t>
            </a:r>
          </a:p>
          <a:p>
            <a:r>
              <a:rPr sz="3000" b="1" i="0">
                <a:solidFill>
                  <a:srgbClr val="E8EEF6"/>
                </a:solidFill>
                <a:latin typeface="Calibri"/>
              </a:rPr>
              <a:t>Akıllı Yol Bozukluğu Tespit Sistemi</a:t>
            </a:r>
          </a:p>
          <a:p>
            <a:r>
              <a:rPr sz="1800" b="0" i="0">
                <a:solidFill>
                  <a:srgbClr val="9AA7BC"/>
                </a:solidFill>
                <a:latin typeface="Calibri"/>
              </a:rPr>
              <a:t>Dashcam + Derin Öğrenme + Görüntü İşleme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8EEF6"/>
                </a:solidFill>
                <a:latin typeface="Calibri"/>
              </a:rPr>
              <a:t>Mehmet Emin AKPOLAT</a:t>
            </a:r>
          </a:p>
          <a:p>
            <a:r>
              <a:rPr sz="1500" b="0" i="0">
                <a:solidFill>
                  <a:srgbClr val="9AA7BC"/>
                </a:solidFill>
                <a:latin typeface="Calibri"/>
              </a:rPr>
              <a:t>Fırat Üniversitesi · Teknoloji Fakültesi · Yazılım Mühendisliği</a:t>
            </a:r>
          </a:p>
          <a:p>
            <a:r>
              <a:rPr sz="1500" b="0" i="0">
                <a:solidFill>
                  <a:srgbClr val="2DD4BF"/>
                </a:solidFill>
                <a:latin typeface="Calibri"/>
              </a:rPr>
              <a:t>215542003@firat.edu.tr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Problem ve 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Giriş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 i="0">
                <a:solidFill>
                  <a:srgbClr val="9AA7BC"/>
                </a:solidFill>
                <a:latin typeface="Calibri"/>
              </a:rPr>
              <a:t>•  Problem: yoldaki çukur ve çatlaklar trafik güvenliğini tehdit eder; tespit manuel, yavaş, pahalı, kayıt dağınık.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Çözüm: araç kamerası (dashcam) yolu gerçek zamanlı tarar.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Bozuklukları yapay zekâ ile tespit eder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Konum + zaman + fotoğrafla eşleştirir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Merkezi veritabanına raporlar, haritada gösterir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Kurulum gerektirmez — tarayıcıda, internetsiz, cihaz üstünde çalışır.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Sistem Nasıl Çalışır?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Mimari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Kamera / Video  →  Tespit Motoru (tarayıcı)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YOLO modeli + görüntü işleme ile bozukluk tespiti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→  Backend API (Node/Express)  →  PostgreSQL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Tespit + konum + zaman + kırpılmış foto kaydı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→  Yönetim Paneli (Leaflet harita)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Renk kodlu pinler, liste, filtre, istatistik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3 ana modül: Tespit Motoru · Backend+Veritabanı · Yönetim Paneli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Projenin Gelişimi: Klasik → YZ → Hibrit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Yaklaşım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9AA7BC"/>
                </a:solidFill>
                <a:latin typeface="Calibri"/>
              </a:rPr>
              <a:t>•  v1 — Klasik görüntü işleme (Canny kenar + kontur)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'Çukur' kavramı yok; her kenarı bozukluk sandı → çok yanlış pozitif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v2 — Yapay zekâ (YOLO)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Bozukluğun ne olduğunu öğrenen model → yanlış pozitif azaldı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v3 — Hibrit (ikisi birlikte)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YOLO tespit eder, klasik görüntü işleme doğrular → en sağlam yapı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Yapay Zekâ / Model Kısmı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Model: YOLOv8s — gerçek zamanlı, hafif, edge-dostu nesne tespiti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E8EEF6"/>
                </a:solidFill>
                <a:latin typeface="Calibri"/>
              </a:rPr>
              <a:t>•  Transfer öğrenme: COCO ön-eğitimli ağırlıklardan ince ayar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Veri: 3 açık set birleştirildi → ~46.000 görüntü, 4 sınıf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RDD2022 + BharatPotHole + IVCNZ (çukur 3 kaynaktan)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Sınıflar: Boyuna / Enine / Timsah Çatlak + Çukur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E8EEF6"/>
                </a:solidFill>
                <a:latin typeface="Calibri"/>
              </a:rPr>
              <a:t>•  Eğitim: RTX 5060, 80 epoch, ~13 saat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Dağıtım: ONNX → tarayıcıda, internetsiz (WebGPU/WASM)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Görüntü İşleme Kısmı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Görüntü İşleme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Ön işleme: letterbox 640×640 + normalize → tensör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Son işleme: çıktı ayrıştırma + NMS (çakışan kutuları eleme)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Hibrit doğrulama (klasik CV) — çöp Kritik'leri eler: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ROI: kutu üstteyse (gökyüzü/bina/ağaç) → reddet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Doku/Gradyan: düz/tek renk yüzey (araç/duvar) → reddet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9AA7BC"/>
                </a:solidFill>
                <a:latin typeface="Calibri"/>
              </a:rPr>
              <a:t>•  Ayrıca: severity (boyut), kırpma, kare-arası IoU takibi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Akıllı Raporlama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Raporlama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Ekranda 3 kademe de kutulanır: Küçük / Orta / Kritik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F4444"/>
                </a:solidFill>
                <a:latin typeface="Calibri"/>
              </a:rPr>
              <a:t>•  Panele YALNIZCA Kritik gönderilir → veritabanı şişmez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E8EEF6"/>
                </a:solidFill>
                <a:latin typeface="Calibri"/>
              </a:rPr>
              <a:t>•  Kare-arası takip: aynı çukur videoda tek kayıt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E8EEF6"/>
                </a:solidFill>
                <a:latin typeface="Calibri"/>
              </a:rPr>
              <a:t>•  Tespit bölgesi kırpılıp panele yakın-çekim gider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9AA7BC"/>
                </a:solidFill>
                <a:latin typeface="Calibri"/>
              </a:rPr>
              <a:t>•  Tüm eşikler sabit — son kullanıcı ayar yapmaz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Deneysel Sonuçlar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Bulgular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E8EEF6"/>
                </a:solidFill>
                <a:latin typeface="Calibri"/>
              </a:rPr>
              <a:t>• Genel mAP@50:  </a:t>
            </a:r>
            <a:r>
              <a:rPr sz="1800" b="1" i="0">
                <a:solidFill>
                  <a:srgbClr val="2DD4BF"/>
                </a:solidFill>
                <a:latin typeface="Calibri"/>
              </a:rPr>
              <a:t>0.611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E8EEF6"/>
                </a:solidFill>
                <a:latin typeface="Calibri"/>
              </a:rPr>
              <a:t>• Timsah Çatlak:  </a:t>
            </a:r>
            <a:r>
              <a:rPr sz="1800" b="1" i="0">
                <a:solidFill>
                  <a:srgbClr val="E8EEF6"/>
                </a:solidFill>
                <a:latin typeface="Calibri"/>
              </a:rPr>
              <a:t>0.681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E8EEF6"/>
                </a:solidFill>
                <a:latin typeface="Calibri"/>
              </a:rPr>
              <a:t>• Enine Çatlak:  </a:t>
            </a:r>
            <a:r>
              <a:rPr sz="1800" b="1" i="0">
                <a:solidFill>
                  <a:srgbClr val="E8EEF6"/>
                </a:solidFill>
                <a:latin typeface="Calibri"/>
              </a:rPr>
              <a:t>0.603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E8EEF6"/>
                </a:solidFill>
                <a:latin typeface="Calibri"/>
              </a:rPr>
              <a:t>• Boyuna Çatlak:  </a:t>
            </a:r>
            <a:r>
              <a:rPr sz="1800" b="1" i="0">
                <a:solidFill>
                  <a:srgbClr val="E8EEF6"/>
                </a:solidFill>
                <a:latin typeface="Calibri"/>
              </a:rPr>
              <a:t>0.602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E8EEF6"/>
                </a:solidFill>
                <a:latin typeface="Calibri"/>
              </a:rPr>
              <a:t>• Çukur:  </a:t>
            </a:r>
            <a:r>
              <a:rPr sz="1800" b="1" i="0">
                <a:solidFill>
                  <a:srgbClr val="E8EEF6"/>
                </a:solidFill>
                <a:latin typeface="Calibri"/>
              </a:rPr>
              <a:t>0.559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9AA7BC"/>
                </a:solidFill>
                <a:latin typeface="Calibri"/>
              </a:rPr>
              <a:t>Doğrulama: 7.226 görüntü · 80 epoch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20240"/>
            <a:ext cx="58521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0" y="59436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AA7BC"/>
                </a:solidFill>
                <a:latin typeface="Calibri"/>
              </a:rPr>
              <a:t>Sınıf bazlı ve genel mAP@50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Edge / Pazarlanabilirlik Vizyonu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Vizyon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Hedef: küçük donanımlarda (otobüs/araç) çalışan sistem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2DD4BF"/>
                </a:solidFill>
                <a:latin typeface="Calibri"/>
              </a:rPr>
              <a:t>•  Her otobüse: küçük cihaz + kamera + GPS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Model yerinde, offline çalışır; çukurları GPS'le işaretler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Bağlantı gelince merkeze senkronlar (store-and-forward)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E8EEF6"/>
                </a:solidFill>
                <a:latin typeface="Calibri"/>
              </a:rPr>
              <a:t>•  Model küçük (ONNX) → Raspberry Pi / Jetson / telefonda koşar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9AA7BC"/>
                </a:solidFill>
                <a:latin typeface="Calibri"/>
              </a:rPr>
              <a:t>•  Frame sampling + INT8 ile ucuz donanımda gerçek zamanlı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Teknoloji Yığını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Teknoloji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Frontend: Vanilla JS · Canvas/görüntü işleme · ONNX Runtime Web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Yapay Zekâ: YOLOv8 · PyTorch / Ultralytics · ONNX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Backend: Node.js · Express · PostgreSQL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Harita / Panel: Leaflet.js</a:t>
            </a:r>
          </a:p>
          <a:p>
            <a:pPr>
              <a:spcAft>
                <a:spcPts val="700"/>
              </a:spcAft>
            </a:pPr>
            <a:r>
              <a:rPr sz="1900" b="0" i="0">
                <a:solidFill>
                  <a:srgbClr val="9AA7BC"/>
                </a:solidFill>
                <a:latin typeface="Calibri"/>
              </a:rPr>
              <a:t>•  Eğitim: NVIDIA RTX 5060 (CUDA)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8EEF6"/>
                </a:solidFill>
                <a:latin typeface="Calibri"/>
              </a:rPr>
              <a:t>Sınırlar ve Gelecek Çalışmalar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DD4BF"/>
                </a:solidFill>
                <a:latin typeface="Calibri"/>
              </a:rPr>
              <a:t>Değerlendirme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9AA7BC"/>
                </a:solidFill>
                <a:latin typeface="Calibri"/>
              </a:rPr>
              <a:t>•  Sınır: model yurt dışı verisiyle eğitildi → Türk yolunda recall sınırlı</a:t>
            </a:r>
          </a:p>
          <a:p>
            <a:pPr>
              <a:spcAft>
                <a:spcPts val="700"/>
              </a:spcAft>
            </a:pPr>
            <a:r>
              <a:rPr sz="1900" b="1" i="0">
                <a:solidFill>
                  <a:srgbClr val="E8EEF6"/>
                </a:solidFill>
                <a:latin typeface="Calibri"/>
              </a:rPr>
              <a:t>•  Gelecek adımlar: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Türk yolu verisiyle fine-tune → doğruluk artışı (boyut değişmez)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GPS entegrasyonu + konuma dayalı kümeleme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Store-and-forward (offline kuyruk)</a:t>
            </a:r>
          </a:p>
          <a:p>
            <a:pPr lvl="1">
              <a:spcAft>
                <a:spcPts val="7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–  INT8 nicemleme ile gömülü cihazda hızlandırma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4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889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DD4BF"/>
                </a:solidFill>
                <a:latin typeface="Calibri"/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EF6"/>
                </a:solidFill>
                <a:latin typeface="Calibri"/>
              </a:rPr>
              <a:t>Mehmet Emin AKPOLAT  ·  215542003@firat.edu.tr</a:t>
            </a:r>
          </a:p>
          <a:p>
            <a:pPr algn="ctr"/>
            <a:r>
              <a:rPr sz="1500" b="0" i="0">
                <a:solidFill>
                  <a:srgbClr val="9AA7BC"/>
                </a:solidFill>
                <a:latin typeface="Calibri"/>
              </a:rPr>
              <a:t>github.com/EminAkplt/RoadScan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